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19b8d547ae4e0b" /><Relationship Type="http://schemas.openxmlformats.org/officeDocument/2006/relationships/extended-properties" Target="/docProps/app.xml" Id="R1ae2ca19f44d43a5" /><Relationship Type="http://schemas.openxmlformats.org/officeDocument/2006/relationships/officeDocument" Target="/ppt/presentation.xml" Id="R5a080b2d216348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c8fe8ebab4727"/>
  </p:sldMasterIdLst>
  <p:notesMasterIdLst>
    <p:notesMasterId xmlns:r="http://schemas.openxmlformats.org/officeDocument/2006/relationships" r:id="R1c460e51ef9b49e2"/>
  </p:notesMasterIdLst>
  <p:sldIdLst>
    <p:sldId xmlns:r="http://schemas.openxmlformats.org/officeDocument/2006/relationships" id="256" r:id="R26eb11817e5b4140"/>
    <p:sldId xmlns:r="http://schemas.openxmlformats.org/officeDocument/2006/relationships" id="257" r:id="R35e5714d55394cc7"/>
    <p:sldId xmlns:r="http://schemas.openxmlformats.org/officeDocument/2006/relationships" id="258" r:id="R2bc6678bc8714e76"/>
    <p:sldId xmlns:r="http://schemas.openxmlformats.org/officeDocument/2006/relationships" id="259" r:id="Rb0335047e8824dc9"/>
    <p:sldId xmlns:r="http://schemas.openxmlformats.org/officeDocument/2006/relationships" id="260" r:id="R5ce274b499d94860"/>
    <p:sldId xmlns:r="http://schemas.openxmlformats.org/officeDocument/2006/relationships" id="261" r:id="Re4c08af45b624a5b"/>
    <p:sldId xmlns:r="http://schemas.openxmlformats.org/officeDocument/2006/relationships" id="262" r:id="Re5b2c986c0814c1b"/>
    <p:sldId xmlns:r="http://schemas.openxmlformats.org/officeDocument/2006/relationships" id="263" r:id="R0245e905b8604ebc"/>
    <p:sldId xmlns:r="http://schemas.openxmlformats.org/officeDocument/2006/relationships" id="264" r:id="R7391b5fcdd4142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c8fe8ebab4727" /><Relationship Type="http://schemas.openxmlformats.org/officeDocument/2006/relationships/theme" Target="/ppt/theme/theme1.xml" Id="R171e8fdfc3d942d6" /><Relationship Type="http://schemas.openxmlformats.org/officeDocument/2006/relationships/notesMaster" Target="/ppt/notesMasters/notesMaster1.xml" Id="R1c460e51ef9b49e2" /><Relationship Type="http://schemas.openxmlformats.org/officeDocument/2006/relationships/presProps" Target="/ppt/presProps.xml" Id="R3e6c1d6bed2f4a59" /><Relationship Type="http://schemas.openxmlformats.org/officeDocument/2006/relationships/viewProps" Target="/ppt/viewProps.xml" Id="R8296140ba9084ca9" /><Relationship Type="http://schemas.openxmlformats.org/officeDocument/2006/relationships/tableStyles" Target="/ppt/tableStyles.xml" Id="Rbd04415cb2e64463" /><Relationship Type="http://schemas.openxmlformats.org/officeDocument/2006/relationships/slide" Target="/ppt/slides/slide1.xml" Id="R26eb11817e5b4140" /><Relationship Type="http://schemas.openxmlformats.org/officeDocument/2006/relationships/slide" Target="/ppt/slides/slide2.xml" Id="R35e5714d55394cc7" /><Relationship Type="http://schemas.openxmlformats.org/officeDocument/2006/relationships/slide" Target="/ppt/slides/slide3.xml" Id="R2bc6678bc8714e76" /><Relationship Type="http://schemas.openxmlformats.org/officeDocument/2006/relationships/slide" Target="/ppt/slides/slide4.xml" Id="Rb0335047e8824dc9" /><Relationship Type="http://schemas.openxmlformats.org/officeDocument/2006/relationships/slide" Target="/ppt/slides/slide5.xml" Id="R5ce274b499d94860" /><Relationship Type="http://schemas.openxmlformats.org/officeDocument/2006/relationships/slide" Target="/ppt/slides/slide6.xml" Id="Re4c08af45b624a5b" /><Relationship Type="http://schemas.openxmlformats.org/officeDocument/2006/relationships/slide" Target="/ppt/slides/slide7.xml" Id="Re5b2c986c0814c1b" /><Relationship Type="http://schemas.openxmlformats.org/officeDocument/2006/relationships/slide" Target="/ppt/slides/slide8.xml" Id="R0245e905b8604ebc" /><Relationship Type="http://schemas.openxmlformats.org/officeDocument/2006/relationships/slide" Target="/ppt/slides/slide9.xml" Id="R7391b5fcdd4142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d999d6e5e234d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884091ac4047ff" /><Relationship Type="http://schemas.openxmlformats.org/officeDocument/2006/relationships/notesMaster" Target="/ppt/notesMasters/notesMaster1.xml" Id="R5dd95d2d2e2c4e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4dc3f3d7e9426b" /><Relationship Type="http://schemas.openxmlformats.org/officeDocument/2006/relationships/notesMaster" Target="/ppt/notesMasters/notesMaster1.xml" Id="R4cbedf62eb3942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c669e82cfa48d2" /><Relationship Type="http://schemas.openxmlformats.org/officeDocument/2006/relationships/notesMaster" Target="/ppt/notesMasters/notesMaster1.xml" Id="R9fe32fc01ebb46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f945682b014b05" /><Relationship Type="http://schemas.openxmlformats.org/officeDocument/2006/relationships/notesMaster" Target="/ppt/notesMasters/notesMaster1.xml" Id="Re53f3759e0f24b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3ef736e11f43ef" /><Relationship Type="http://schemas.openxmlformats.org/officeDocument/2006/relationships/notesMaster" Target="/ppt/notesMasters/notesMaster1.xml" Id="Rfac8a5a31869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cb52148699446b" /><Relationship Type="http://schemas.openxmlformats.org/officeDocument/2006/relationships/notesMaster" Target="/ppt/notesMasters/notesMaster1.xml" Id="R42a7f3e05af94c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231baa965ff4340" /><Relationship Type="http://schemas.openxmlformats.org/officeDocument/2006/relationships/notesMaster" Target="/ppt/notesMasters/notesMaster1.xml" Id="Rb857edfcd77c44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a4a3f94958495d" /><Relationship Type="http://schemas.openxmlformats.org/officeDocument/2006/relationships/notesMaster" Target="/ppt/notesMasters/notesMaster1.xml" Id="R4562886c191c4eb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e0767c6504c4aaa" /><Relationship Type="http://schemas.openxmlformats.org/officeDocument/2006/relationships/notesMaster" Target="/ppt/notesMasters/notesMaster1.xml" Id="Ra140e096983f45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封面页用于总括本次策划的四条主线。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本页用来交代整套策划的阅读顺序和逻辑框架。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强调设计责任不是按图纸数量分，而是按系统责任和接口复杂度分。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本页重点说明三条采购链并行，而不是简单设备材料二分。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本页强调品牌建议用于优先询价和技术澄清，不等于最终定版名单。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本页重点讲物流组织方式和重点控制对象。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本页突出项目总周期和当地验收周期两个最关键口径。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本页把关键路径和影响因素放在一起说明，便于沟通工期控制重点。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本页用典型数据说明为什么新项目必须把公用工程、地管、厂外连接和验收准备单独列项管理。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来源：项目分工策划-设计采购物流进度版，以及本轮对话中整理的过往项目设计、采购、物流、进度资料。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69dcdedca4de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0AC7FCAB-0437-415A-9673-88F608ADA14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A25A02-52E8-4228-A114-30E9189270B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38423BC-5D74-4E6F-BCA0-9881746D3A1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AD9C3D9-9291-4F8A-81F8-B2C0609E96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7389091d92940a7" /><Relationship Type="http://schemas.openxmlformats.org/officeDocument/2006/relationships/slideLayout" Target="/ppt/slideLayouts/slideLayout2.xml" Id="Rf231c2a9de40461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205501-07C6-4222-AF0F-8EC172B9A69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31c2a9de40461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f6d04690244527" /><Relationship Type="http://schemas.openxmlformats.org/officeDocument/2006/relationships/image" Target="/ppt/media/image.png" Id="R47c268eaa1b142ab" /><Relationship Type="http://schemas.openxmlformats.org/officeDocument/2006/relationships/notesSlide" Target="/ppt/notesSlides/notesSlide1.xml" Id="Rca74922c68a141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eae39a02b4760" /><Relationship Type="http://schemas.openxmlformats.org/officeDocument/2006/relationships/image" Target="/ppt/media/image2.png" Id="Rf5acedd1bbfd4abf" /><Relationship Type="http://schemas.openxmlformats.org/officeDocument/2006/relationships/notesSlide" Target="/ppt/notesSlides/notesSlide2.xml" Id="R9dfba18141934b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a09d24db64f17" /><Relationship Type="http://schemas.openxmlformats.org/officeDocument/2006/relationships/image" Target="/ppt/media/image3.png" Id="R74c4b76f7c8348e4" /><Relationship Type="http://schemas.openxmlformats.org/officeDocument/2006/relationships/notesSlide" Target="/ppt/notesSlides/notesSlide3.xml" Id="R26ba2e19081d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e2bc7ecb82443e" /><Relationship Type="http://schemas.openxmlformats.org/officeDocument/2006/relationships/image" Target="/ppt/media/image4.png" Id="R7c3408b1e7f645ae" /><Relationship Type="http://schemas.openxmlformats.org/officeDocument/2006/relationships/notesSlide" Target="/ppt/notesSlides/notesSlide4.xml" Id="R60e6e50cfe4642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1022132ac84b55" /><Relationship Type="http://schemas.openxmlformats.org/officeDocument/2006/relationships/image" Target="/ppt/media/image5.png" Id="Re9d8c970e2974c7a" /><Relationship Type="http://schemas.openxmlformats.org/officeDocument/2006/relationships/notesSlide" Target="/ppt/notesSlides/notesSlide5.xml" Id="Re1aaf0e8c8d94a7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d7405c5ceb442c" /><Relationship Type="http://schemas.openxmlformats.org/officeDocument/2006/relationships/image" Target="/ppt/media/image6.png" Id="Rd7618f23561b40cd" /><Relationship Type="http://schemas.openxmlformats.org/officeDocument/2006/relationships/notesSlide" Target="/ppt/notesSlides/notesSlide6.xml" Id="Re7f9e068ebd74c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5c0884ba394b77" /><Relationship Type="http://schemas.openxmlformats.org/officeDocument/2006/relationships/image" Target="/ppt/media/image7.png" Id="Rc18e630ba2ec4e31" /><Relationship Type="http://schemas.openxmlformats.org/officeDocument/2006/relationships/notesSlide" Target="/ppt/notesSlides/notesSlide7.xml" Id="Ref1106bfe14d41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c84fdb0524811" /><Relationship Type="http://schemas.openxmlformats.org/officeDocument/2006/relationships/image" Target="/ppt/media/image8.png" Id="Rf345546215ab49bd" /><Relationship Type="http://schemas.openxmlformats.org/officeDocument/2006/relationships/notesSlide" Target="/ppt/notesSlides/notesSlide8.xml" Id="Rbfffbe23607d4b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389184218147d9" /><Relationship Type="http://schemas.openxmlformats.org/officeDocument/2006/relationships/image" Target="/ppt/media/image9.png" Id="Ra950c46f15984ae6" /><Relationship Type="http://schemas.openxmlformats.org/officeDocument/2006/relationships/notesSlide" Target="/ppt/notesSlides/notesSlide9.xml" Id="R1c35cae878f644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268eaa1b142ab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FEDBF-830B-4038-8301-D91E733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007DE8-1051-4B11-8038-462277C0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609B5-E56F-4403-8C4D-2E1FD5B1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项目策划汇报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748491-D7DC-4BBA-A31C-BC65B906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马来西亚生物柴油项目分工策划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B3DFA-ED6E-4D49-A8D6-E56AB3FF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围绕设计、采购、物流、进度四条主线，明确项目边界、组织方式和周期控制建议。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A81A5-39D0-40C8-A614-61FA7B36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D8769D-DD3B-4CB4-8A94-F90DDBD5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三方设计分工 + 三条采购链 + 统一物流管理 + 四条进度主线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96691-2082-49B4-ACB9-3E144606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912163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cedd1bbfd4abf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AB8B1-091C-4F5B-92D0-9C0323A9C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B226F8-DFAA-4ABD-AA31-B9F3BDCA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策划框架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7C163-C2E8-494D-9AA9-9933E016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499C8-1A32-4AEC-B5EE-9EAF613A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BF534-7741-4B19-925D-67715E5D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AA137-44B4-4C3B-8D4D-D402C054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本次策划重点回答四个问题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BEAAD5-62F9-4FF2-A648-CA892180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谁负责设计，谁负责采购，物流如何统筹，项目周期如何控制。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FA692-BD37-46F4-86FD-0EDE08CD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D034D-E1F5-45E2-A391-8587DF5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739E1-0FF1-4303-872E-D5BACA2E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AC33A-9F33-406B-9B32-74E86E14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E52F46-B1B6-4016-AFB4-E7ADCA9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B0108-E767-4CEB-BC90-3CAF1E5D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50990A-5226-4422-B194-1BF5ABF1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E8552E-71AC-435A-894D-4EE786F4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建议按三方组织。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主装置系统设计、公用工程与配套设计、本地深化设计分别锁定责任。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DF3B7-0462-42DB-8EFE-6E42A5CB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D09CA-F1EA-4BD9-A202-CD20AD1B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A0B2C2-29EF-43CC-B34D-8D6AA6FF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C1F9DC-91BF-4CF5-952E-0D180CE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8B631C-9C42-4E25-BA9D-51199673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88089E-419F-4421-80FE-9453A458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1E5FD3-25E0-41F9-83B5-CA0619CC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采购与物流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D6792-7001-4B34-AAA7-AEB2D6C0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形成 Technip 关键设备、NCC 跨境采购、NCC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本地采购三条链。 物流建议由乙方统一统筹。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272F55-23A0-4024-A5CF-598D6226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48277E-52C7-4864-8859-DF016CA5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8FAD1-083B-4EA6-BF55-1823F8E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0D6B86-5257-4EE9-A7B8-F5C590E0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BB0DFF-D929-4C5F-9032-BB85EAA5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0838CB-8F52-4101-983C-89D810010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FA9EE7-5CA5-4EEA-8F8F-A78EC21E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进度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7AD55A-6FF2-4101-A0B8-2CF52FF0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按项目总周期、关键路径、前序条件、关键物资释放和当地验收五层逻辑组织。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CD944F-06EB-4FD3-B8EF-34B06935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3438739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4b76f7c8348e4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2F19D-06D6-428B-B1EC-765A24B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40884-FA05-455E-A5D0-363D5446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设计分工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009E6-0CA4-45D6-A622-3E779D29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71FFB-D4E5-4C3D-9024-498D8F69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3374F-3FC3-4135-9573-AA29B84B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C3DC1-03F0-47D6-9388-DBB7673C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设计建议按三方分工组织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CDA74-B918-44B1-B6A8-93FD830D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主装置系统、公用工程和配套系统、本地深化三个层次应在项目初期分别列明。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CE692-A6D4-4FBB-A34C-75C4E3CB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3C937-0729-4B42-9768-138FCEA4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D75AA-3DF2-4FD6-ACC2-95F264A5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52B8DB-7B4B-476F-8B11-2784450A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CCA337-EBDF-4C6A-B839-2771D4D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925AA3-FE4C-429E-B855-9EF2AEBF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E3567-ED46-48F0-A99B-6D67007A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Technip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C87BB-88F0-4D09-A82D-B0166E39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负责主装置系统设计。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覆盖工艺、设备、管道、结构、仪表、电气及关键消防接口，并对系统完整性负责。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5B0E78-762B-485F-B283-D257CD99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DAF307-C95D-4D43-8736-C6092695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92F070-B12A-45DF-B9B8-7E5824E9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525291-46E3-4EF1-8383-6AA4E877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6D439-C54A-42DA-9F30-2635D9FC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6074A1-9042-4678-86C9-0F8A6158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BF42B8-A1DF-4EB0-A843-A323D295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华东院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1DC58-29D8-4526-A024-DB4090FA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负责公用工程和配套系统设计。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覆盖总图、储运、消防、变配电、建筑结构、地管、外管及厂外接入。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E9908E-DF11-456B-A0A1-5531A072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085E4-AFB6-4420-92E5-63292C95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5FD54-FEFD-46D2-9A2B-87BEA204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A72183-0B2B-4E4D-A473-58F142D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BF4381-1EA4-4887-9F57-1DD6C7B9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B3B2E-CBF2-4F20-A483-09983828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CBD0DB-0542-4B83-9F72-319EB511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马来设计院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4CC297-8012-4569-8706-EA0633A5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负责本地深化设计。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重点是消防、暖通、电气、弱电等报审敏感专业，以及施工转换图。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5C40CD-5767-4352-8D16-07D0F719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1652905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3408b1e7f645a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EE325-193A-45A1-8265-9C7DA481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417B4-7030-4C90-A024-972941AF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采购分工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195AA-7FDB-4179-B033-E49FA693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BEE7A-47CC-4A55-AABE-6EC80B01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AFC84-79EE-4CC3-981C-07F887A2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44CA5-A5DA-4C03-A779-E1242894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采购建议形成三条执行链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97B4CF-78DC-41E2-9BE2-FC54A23B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关键设备由 Technip 控制，跨境主材和预制关联材料由 NCC 组织，本地适配物资由 NCC 属地采购。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ACC78-4249-4BD1-949E-E0649222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EA0B8-C019-46EA-B633-178362BB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165E3-A6DA-41E8-A590-B5718C8E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FA551-923D-4E0E-9B48-C654139F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CC929-99E8-4F8D-B2FF-2AC4B32C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CD185B-31B1-4C98-B40D-1FCD40D7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64959-2B34-4C66-B27F-66D8E06A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Technip 主导采购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15273-19B6-42C3-83A4-E6955C79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反应器、炉类、压缩机、离心机、关键控制阀、关键安全阀、DCS/SIS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等关键设备和关键成套包。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D14F9-FC5B-46AD-8318-7AC2001C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F370F5-B8DF-4A2A-9352-BFAD6002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028B7-E896-409A-8A60-DD66A2A2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CA7D8-1048-4B48-8024-BB79B36C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EBF61-0D42-4A1D-8327-39159C0D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494C70-A7CF-4D32-9D02-93809F69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0CBFE-8DE1-4640-BF76-E3F14E3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NCC 跨境采购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084AD-80D4-4469-8A20-19BF2564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钢结构、储罐主材、管道主材、法兰管件、预制管道材料、预制罐板及附件、防腐保温等。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117910-7C28-432C-A045-96719D3C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010BD8-6F57-4DD5-A95C-4EF39728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00899-D329-4ECE-BCB0-D27B73E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396DF-DBBB-4F42-86A1-9EBB62B0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2D5CA-3D8B-4E84-9ACF-9418F220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A223F2-0B3C-4490-9D21-1CCF36C8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FBF051-A9CB-41E5-944D-A7C5C55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NCC 本地采购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F2F0AE-B50C-4389-ACA4-69C65968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高低压电缆、仪表电缆、控制电缆、防火涂料、弱电监控、脚手机具及属地适配物资。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3DDF13-CB74-431C-A234-44BC1328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14942073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8c970e2974c7a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E37D5-09E6-49E1-AA5E-1CC20DFA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9D349A-14F1-4335-B44E-20F6272B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品牌建议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6B758-0A12-4772-A4E1-5B8D2328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E60EE-A529-439D-A097-2F0DA943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44EDB-E95E-44CF-AD31-FF46F29D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80150-A46A-493F-BE3F-A09B0202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关键设备宜提前形成主选和备选品牌名单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8FB6D-3618-44F2-AE94-23D0B03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优先考虑马来西亚有项目业绩、售后响应稳定、交期相对可控的品牌和厂家。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50AEB-E88D-4685-AC96-E185339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383A6-C6F4-4B19-8876-137C1B7F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96CAC-3F52-45AA-AB22-2433B006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E3981-ED45-424B-956E-A45B6F92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2A2D5-C095-4E6F-8E9D-16D17302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2A2AA-2CA5-4931-AF9E-A4191BF7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3D915-1867-47F6-9F86-07E8A18C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动设备和炉类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686A9-4F9E-4169-905B-501B5547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压缩机样本厂家包括沈鼓、沈阳远大。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炉类样本厂家包括托普工业、上海卓然。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E3A0D5-CA00-4A7A-A9F8-D209B293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56A291-D77A-43D6-92C2-63AF0AA4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0B5A2-E55E-4E63-AD68-7D4EF22B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245049-FA17-4F85-8904-46B8D12F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3D3EDF-2829-4E7E-9230-49A0AD54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EDECCE-3D62-4800-BABC-2F7E667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5BD9E-6378-4BD0-A830-48920342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控制和离心设备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CF40D-518B-48AA-946D-552EAEB6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离心机样本厂家为阿法拉伐。 DCS/SIS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样本厂家为艾默生。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B17A57-90CC-4E9F-8473-7371AF6A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DDD064-C78D-48A4-B703-10912329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B55C82-0C6A-4C6F-B502-1F5CC6F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4F960-DD9D-496C-9808-786C146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803A3-181E-4BC2-85DD-41922CD1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BE3CE9-BA19-4C87-853A-3A4DE509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B7248D-23EF-40E9-8791-78829FAD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阀门与验收适配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08589F-E453-4A11-8AA0-9457B8E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阀门和控制阀样本厂家包括凯斯通、阀泰科技、莱斯安全阀门。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品牌选择应同步考虑当地验收适配和售后能力。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1151B-9F43-452C-9B99-EC85A58A0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876431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18f23561b40c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300E5-4BCF-44A9-A2C4-5BA4EC92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9F5B0-8E1F-4050-93A9-97141601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物流策划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DD4EB-16C2-4C12-9C2E-E142B3E0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1CC934-704F-4616-9F73-4BA7DDFC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FD55A-FAA7-4EF2-8D97-6E38B225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21CED-A0D3-4FEA-B901-A8D87CE3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物流建议统一由乙方统筹管理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D5A15-0876-4981-AC69-7205EB6E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把采购、发运、报关、清关和到场顺序放在一套节奏里控制。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5F35D-BE1C-4364-826D-D2739D0D5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8F145-7805-48EF-B2D4-9797177C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6ED9E-3315-4733-8132-26F3A6F3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B4AA9-DB99-43B8-B981-0B4C8BB8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7DD39-3326-4A23-9AFB-0D5F5D00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7D744E-A602-4C5A-BC33-B9B20F5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ABF9CA-3696-44DA-BEC2-FC818874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统一统筹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F1025-2596-4468-A45D-CFB7209D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统一发运计划。 统一报关资料准备。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统一清关协调和现场到场顺序控制。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C790D-724E-4686-82AA-7EE8B7F1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B69826-90F0-4C95-BF97-D92A21D2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622373-416E-488E-A546-D46501E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2CC46C-FDF5-4980-A651-199CEF2C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896B5-ED1D-4C59-82E6-40F94E1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DB9DD7-7A3A-4DEF-926B-52422190B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F96AE-DA2D-4D15-977E-99C1A439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重点物资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AC72D-4476-4DC7-BACB-A090743F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关键设备、预制物资、钢结构、储罐材料和地管材料应按关键路径倒排物流。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C42DD-3FD3-4E39-A8A4-238E54A7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62A534-9338-4237-9185-241FE888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15499-33BA-4805-8695-78A88B25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BA4A8-3C5C-4620-96B9-D3C98B6F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66F9B4-D8CC-4035-84B8-FAA91C5E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F8BC38-9CE3-4DE1-93FE-29760E96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1015A6-5822-4726-B6D0-A11A141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风险控制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88BB3A-DF4E-43ED-9B05-9B16BB88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需单独考虑集港、等泊、天气、港口切换以及 CIDB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COA 等认证准备时间。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38AC56-41B8-4ED8-946E-6694C4A9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18311247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e630ba2ec4e3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DEB4-A29D-4C82-9D81-4EF86D60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A4C4E8-3EF0-4C95-BA32-E39AF7DC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进度周期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F114A-3E42-4820-B3B9-F2118378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1DECD-5339-4330-8A75-AC7BA3ED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8991E-E5B1-4C38-B858-3B7584A7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5628E-EB97-4087-9CB2-0F6928B6F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项目总周期建议按两种起算口径控制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FC832B-E091-4C01-A436-2125DF05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从土建开工起算与从主装置安装主线展开起算，建议分别控制不同周期口径。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F6A29-46DD-4AEC-9772-C49074C1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6140E-0BE9-45C3-B412-6B0D466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DB7BCD-4D0D-4D34-8CB4-B4583AD2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23-25 个月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1CACA-621B-44F0-9228-0BEC993E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从土建和地下前序条件开工起算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B1EDD-80C0-4C89-A194-71555DD9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用于总体项目策划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3DE263-C73B-4007-9F66-13E1EAA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E72A4-5262-43B9-9D99-23BA7A9E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20AE0F-76B5-4396-B5C2-E80B8DD2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21-22 个月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33A8C-D915-41F9-A734-AB97ACC7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从主装置和安装主线全面展开起算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2A394-9E32-410C-861C-849D71BD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用于执行主线控制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ADAE8-ECFD-4E74-AD6C-04656A7E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238EE-A38D-4C52-91F9-D2465C7F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58688-665D-42FC-9AF9-B887F2F5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2-3 个月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740F16-2528-4F0F-8FAA-2AE9BD6A9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当地专项验收和 CCC 周期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943603-6C02-4679-99D9-6C999739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宜在后期提前穿插启动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0A3D4-BC63-4E7E-8AA2-4C270865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3084020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5546215ab49bd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E5343-9C70-4833-901B-3FF51FC8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402E05-A043-4B1C-BBC8-4825B6B2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关键路径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FEFA3-358B-4139-84ED-6DCFBD0D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712582-0E3E-4192-B1CF-38192A62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CBC04-02B2-48F2-AF7D-BC10B717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C02F7-BF47-4D95-889B-20D178E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关键路径建议至少按四条主线同步管理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6B705-4314-4721-912C-B4209F1F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项目初期可由主装置路径主导，中后期往往转为多路径并行收紧。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59A2E9-75A6-4029-A5E6-2E4AF10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FA6D84-48D1-4784-99D2-13645BBD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97487-FD59-4137-8FCD-B66C5ACF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C57F8A-DDB5-40C2-83EC-534884C1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01A1D5-93BA-4BA8-8AFA-374FF87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B8A662-B467-4966-8B07-9FC2666A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2FBD9-80FA-4DF0-BE78-75FA3D98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主装置与公用工程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2DB23-B264-4216-9FE7-93E41F1D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主装置路径覆盖设备、工艺管道、电仪接线和装置接收。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公用工程路径覆盖变配电、消防水、冷却水、水处理等系统。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189ED-1210-46A3-A95B-8AAC2055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A824E-3C72-4F01-B137-BB9C2ACB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C86CF3-F0C7-44C7-8FC7-79DC89ED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EE3815-A0D9-4D4D-8EC1-5D825DC4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47651-569B-45B1-ADAD-33154C41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EBEE1-7F84-479C-AE51-91920CE2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D7E050-0676-40F1-918D-53BD23BE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厂外连接与关键物资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0A42D-BFEB-489A-9FCB-3803449D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罐区、装卸设施、厂外管线、码头连接、外部公用工程接入，以及关键设备、地管材料、钢结构到场顺序。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60F15A-575A-4DD4-B9DB-A0FD4D1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FE3CDB-F6F0-48C4-A568-48580D8B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726F8D-D59D-4A76-A9A6-7B592AB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039B30-01CC-49CE-AA10-10639526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41C0E2-0DF6-4BEF-B151-B788B390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45159A-9C2B-49E1-931F-EE3C4DFC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4C80DD-2578-43B4-B830-9C3004F6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可能影响进度的因素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1D7015-ACCD-4C5B-BE03-88C50584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公用工程偏晚、地管和前序条件滞后、关键物资与施工窗口错位、第三方协调偏慢、当地验收启动偏晚。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FF3B59-E92F-4D07-BC20-76163D94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2272726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21A127-322B-4F80-A403-C2BBC2CDCA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0c46f15984ae6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66BA4-444E-42C4-B229-D35822A1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4235B-A9C6-4691-9A90-79EC68C7F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过往经验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0F34A-9956-436C-B3BE-FEFEA507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734917-BA9F-4BB9-BCEB-87BF5BBB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15F4B-7351-46A0-9C75-25514BE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08C48-E762-435D-85EA-601BFD63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过往项目的典型例子说明重点不在主装置本体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E0A38-0350-4C9B-B2D7-B9634C20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真正容易拖长总工期的，往往是公用工程、地管、厂外连接和当地验收准备。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7BF95D-458B-4E30-9C8A-E2E7C5B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5C669-FED6-4019-A8B2-D0227949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84C2C-03DF-4958-88A9-D0581F0B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+280 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EA809-904B-4C1B-970D-A3CF75D7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变电站系统级机械竣工延后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EC37E-0B7A-45A5-8990-89A3F66A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公用工程形成条件偏晚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B33F1-AA2B-48BB-A3E3-DC5AE60B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37D3F9-5068-45BA-AED2-8DAC27B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3A4D60-5AC3-4ADB-9F52-0C304DF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+237 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5C396C-B93A-4438-86E7-BF80ED6C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消防水系统延后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7A778-6697-4AE1-9F4B-32DD8D72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系统完成时间明显右移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22F70-2C94-4304-A694-50447C9B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A545A9-EA49-4B3A-99CF-9AD2AC5C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05D651-483A-4D90-8DA1-C9DD3957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+142 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562EB-E105-45AD-B6B4-5A6196D3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地管安装及回填样本延后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72E2F1-8FF1-49DB-85AE-6AD87F7D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前序条件和安装窗口被压缩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E99791-2E6B-476E-AE21-1DD5D1AF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基于过往项目执行经验整理，供本项目分工策划、沟通和评审使用。</a:t>
            </a:r>
          </a:p>
        </p:txBody>
      </p:sp>
    </p:spTree>
    <p:extLst>
      <p:ext uri="{BB962C8B-B14F-4D97-AF65-F5344CB8AC3E}">
        <p14:creationId xmlns:p14="http://schemas.microsoft.com/office/powerpoint/2010/main" val="266219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2026-04-18T16:49:02.4590000Z</dcterms:created>
  <dcterms:modified xsi:type="dcterms:W3CDTF">2026-04-18T16:49:02.4590000Z</dcterms:modified>
</coreProperties>
</file>